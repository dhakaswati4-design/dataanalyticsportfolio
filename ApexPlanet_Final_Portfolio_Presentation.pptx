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ApexPlanet Data Analytics Internship</a:t>
            </a:r>
          </a:p>
          <a:p>
            <a:pPr>
              <a:defRPr sz="2800"/>
            </a:pPr>
            <a:r>
              <a:t>Final Portfolio &amp; End-to-End Analytics Journey</a:t>
            </a:r>
          </a:p>
          <a:p>
            <a:pPr>
              <a:defRPr sz="1800"/>
            </a:pPr>
            <a:r>
              <a:t>Tasks 1–4 | Capstone Integration &amp; Portfolio Finalization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3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1. Portfolio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Master portfolio for the ApexPlanet 60-Days Data Analytics Internship.</a:t>
            </a:r>
          </a:p>
          <a:p>
            <a:pPr>
              <a:spcAft>
                <a:spcPts val="1000"/>
              </a:spcAft>
              <a:defRPr sz="2100"/>
            </a:pPr>
            <a:r>
              <a:t>Brings together data preparation, EDA, SQL, dashboarding, statistical validation and business storytelling.</a:t>
            </a:r>
          </a:p>
          <a:p>
            <a:pPr>
              <a:spcAft>
                <a:spcPts val="1000"/>
              </a:spcAft>
              <a:defRPr sz="2100"/>
            </a:pPr>
            <a:r>
              <a:t>Goal: present one clear reference point for the complete analytics workflow.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3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2. Dataset &amp; Starting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Sales dataset: 1,000 records and 12 core columns.</a:t>
            </a:r>
          </a:p>
          <a:p>
            <a:pPr>
              <a:spcAft>
                <a:spcPts val="1000"/>
              </a:spcAft>
              <a:defRPr sz="2000"/>
            </a:pPr>
            <a:r>
              <a:t>Fields covered order, customer, date, city, product, category, quantity, unit price and total sales information.</a:t>
            </a:r>
          </a:p>
          <a:p>
            <a:pPr>
              <a:spcAft>
                <a:spcPts val="1000"/>
              </a:spcAft>
              <a:defRPr sz="2000"/>
            </a:pPr>
            <a:r>
              <a:t>Task 1 established a cleaned, analysis-ready dataset for the later analysis stages.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3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3. Task 1 – Data Immersion &amp; Wrangling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Profiled data quality and identified missing values and other quality issues.</a:t>
            </a:r>
          </a:p>
          <a:p>
            <a:pPr>
              <a:spcAft>
                <a:spcPts val="1000"/>
              </a:spcAft>
              <a:defRPr sz="1900"/>
            </a:pPr>
            <a:r>
              <a:t>Handled missing Age and City values and standardized the Order_Date field.</a:t>
            </a:r>
          </a:p>
          <a:p>
            <a:pPr>
              <a:spcAft>
                <a:spcPts val="1000"/>
              </a:spcAft>
              <a:defRPr sz="1900"/>
            </a:pPr>
            <a:r>
              <a:t>Checked duplicates and sales-related data consistency.</a:t>
            </a:r>
          </a:p>
          <a:p>
            <a:pPr>
              <a:spcAft>
                <a:spcPts val="1000"/>
              </a:spcAft>
              <a:defRPr sz="1900"/>
            </a:pPr>
            <a:r>
              <a:t>Produced the cleaned dataset, data dictionary and cleaning workflow.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3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4. Task 2 – EDA &amp; Business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Used summary statistics and visualizations to understand distributions and sales patterns.</a:t>
            </a:r>
          </a:p>
          <a:p>
            <a:pPr>
              <a:spcAft>
                <a:spcPts val="1000"/>
              </a:spcAft>
              <a:defRPr sz="1900"/>
            </a:pPr>
            <a:r>
              <a:t>Developed business questions and used SQL for filtering, aggregation and analysis.</a:t>
            </a:r>
          </a:p>
          <a:p>
            <a:pPr>
              <a:spcAft>
                <a:spcPts val="1000"/>
              </a:spcAft>
              <a:defRPr sz="1900"/>
            </a:pPr>
            <a:r>
              <a:t>Explored relationships across sales, category, city, product, quantity and time.</a:t>
            </a:r>
          </a:p>
          <a:p>
            <a:pPr>
              <a:spcAft>
                <a:spcPts val="1000"/>
              </a:spcAft>
              <a:defRPr sz="1900"/>
            </a:pPr>
            <a:r>
              <a:t>Created a dashboard-oriented view of the most important business metrics.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3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5. Task 3 – Deep-Dive &amp; Interactive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Defined core KPIs and used them to organize the business analysis.</a:t>
            </a:r>
          </a:p>
          <a:p>
            <a:pPr>
              <a:spcAft>
                <a:spcPts val="1000"/>
              </a:spcAft>
              <a:defRPr sz="1900"/>
            </a:pPr>
            <a:r>
              <a:t>Built an interactive dashboard for exploring sales performance.</a:t>
            </a:r>
          </a:p>
          <a:p>
            <a:pPr>
              <a:spcAft>
                <a:spcPts val="1000"/>
              </a:spcAft>
              <a:defRPr sz="1900"/>
            </a:pPr>
            <a:r>
              <a:t>Dashboard analysis included time, category, city, product and customer-related views.</a:t>
            </a:r>
          </a:p>
          <a:p>
            <a:pPr>
              <a:spcAft>
                <a:spcPts val="1000"/>
              </a:spcAft>
              <a:defRPr sz="1900"/>
            </a:pPr>
            <a:r>
              <a:t>Used the dashboard to support business findings and recommendations.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3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6. Task 4 – Data Storytelling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Converted the earlier analysis into a concise business narrative.</a:t>
            </a:r>
          </a:p>
          <a:p>
            <a:pPr>
              <a:spcAft>
                <a:spcPts val="1000"/>
              </a:spcAft>
              <a:defRPr sz="1900"/>
            </a:pPr>
            <a:r>
              <a:t>Key descriptive findings: Electronics had the highest category sales; Patna had the highest city total among the listed cities.</a:t>
            </a:r>
          </a:p>
          <a:p>
            <a:pPr>
              <a:spcAft>
                <a:spcPts val="1000"/>
              </a:spcAft>
              <a:defRPr sz="1900"/>
            </a:pPr>
            <a:r>
              <a:t>March 2025 was the highest-sales month in the observed period.</a:t>
            </a:r>
          </a:p>
          <a:p>
            <a:pPr>
              <a:spcAft>
                <a:spcPts val="1000"/>
              </a:spcAft>
              <a:defRPr sz="1900"/>
            </a:pPr>
            <a:r>
              <a:t>Descriptive patterns were kept separate from causal or statistical claims.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3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7. Task 4 – Statistical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Hypothesis: average order-level Total Sales differs between Male and Female customers.</a:t>
            </a:r>
          </a:p>
          <a:p>
            <a:pPr>
              <a:spcAft>
                <a:spcPts val="1000"/>
              </a:spcAft>
              <a:defRPr sz="1800"/>
            </a:pPr>
            <a:r>
              <a:t>Test: Welch's independent two-sample t-test.</a:t>
            </a:r>
          </a:p>
          <a:p>
            <a:pPr>
              <a:spcAft>
                <a:spcPts val="1000"/>
              </a:spcAft>
              <a:defRPr sz="1800"/>
            </a:pPr>
            <a:r>
              <a:t>Significance level: α = 0.05.</a:t>
            </a:r>
          </a:p>
          <a:p>
            <a:pPr>
              <a:spcAft>
                <a:spcPts val="1000"/>
              </a:spcAft>
              <a:defRPr sz="1800"/>
            </a:pPr>
            <a:r>
              <a:t>Male mean ≈ ₹141,807; Female mean ≈ ₹136,883.</a:t>
            </a:r>
          </a:p>
          <a:p>
            <a:pPr>
              <a:spcAft>
                <a:spcPts val="1000"/>
              </a:spcAft>
              <a:defRPr sz="1800"/>
            </a:pPr>
            <a:r>
              <a:t>t-statistic ≈ 0.683; p-value ≈ 0.495.</a:t>
            </a:r>
          </a:p>
          <a:p>
            <a:pPr>
              <a:spcAft>
                <a:spcPts val="1000"/>
              </a:spcAft>
              <a:defRPr sz="1800"/>
            </a:pPr>
            <a:r>
              <a:t>Decision: fail to reject H0; the sample did not provide sufficient statistical evidence of a difference.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3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8. Business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The observed group means are different descriptively, but the statistical test did not establish a significant difference at the 5% level.</a:t>
            </a:r>
          </a:p>
          <a:p>
            <a:pPr>
              <a:spcAft>
                <a:spcPts val="1000"/>
              </a:spcAft>
              <a:defRPr sz="1900"/>
            </a:pPr>
            <a:r>
              <a:t>The conclusion is limited to this dataset, metric and test.</a:t>
            </a:r>
          </a:p>
          <a:p>
            <a:pPr>
              <a:spcAft>
                <a:spcPts val="1000"/>
              </a:spcAft>
              <a:defRPr sz="1900"/>
            </a:pPr>
            <a:r>
              <a:t>The dataset is observational, so the analysis does not establish causation.</a:t>
            </a:r>
          </a:p>
          <a:p>
            <a:pPr>
              <a:spcAft>
                <a:spcPts val="1000"/>
              </a:spcAft>
              <a:defRPr sz="1900"/>
            </a:pPr>
            <a:r>
              <a:t>Further analysis can examine category, product, city, quantity and time-related factors.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3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9. Skills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Excel and data preparation</a:t>
            </a:r>
          </a:p>
          <a:p>
            <a:pPr>
              <a:spcAft>
                <a:spcPts val="1000"/>
              </a:spcAft>
              <a:defRPr sz="1800"/>
            </a:pPr>
            <a:r>
              <a:t>Python / Pandas workflow</a:t>
            </a:r>
          </a:p>
          <a:p>
            <a:pPr>
              <a:spcAft>
                <a:spcPts val="1000"/>
              </a:spcAft>
              <a:defRPr sz="1800"/>
            </a:pPr>
            <a:r>
              <a:t>SQL querying and business analysis</a:t>
            </a:r>
          </a:p>
          <a:p>
            <a:pPr>
              <a:spcAft>
                <a:spcPts val="1000"/>
              </a:spcAft>
              <a:defRPr sz="1800"/>
            </a:pPr>
            <a:r>
              <a:t>Exploratory Data Analysis and visualization</a:t>
            </a:r>
          </a:p>
          <a:p>
            <a:pPr>
              <a:spcAft>
                <a:spcPts val="1000"/>
              </a:spcAft>
              <a:defRPr sz="1800"/>
            </a:pPr>
            <a:r>
              <a:t>KPI analysis and dashboarding</a:t>
            </a:r>
          </a:p>
          <a:p>
            <a:pPr>
              <a:spcAft>
                <a:spcPts val="1000"/>
              </a:spcAft>
              <a:defRPr sz="1800"/>
            </a:pPr>
            <a:r>
              <a:t>Statistical hypothesis testing</a:t>
            </a:r>
          </a:p>
          <a:p>
            <a:pPr>
              <a:spcAft>
                <a:spcPts val="1000"/>
              </a:spcAft>
              <a:defRPr sz="1800"/>
            </a:pPr>
            <a:r>
              <a:t>GitHub portfolio management</a:t>
            </a:r>
          </a:p>
          <a:p>
            <a:pPr>
              <a:spcAft>
                <a:spcPts val="1000"/>
              </a:spcAft>
              <a:defRPr sz="1800"/>
            </a:pPr>
            <a:r>
              <a:t>Business storytelling and stakeholder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3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10. Key Learnings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Reliable analysis starts with clean and well-understood data.</a:t>
            </a:r>
          </a:p>
          <a:p>
            <a:pPr>
              <a:spcAft>
                <a:spcPts val="1000"/>
              </a:spcAft>
              <a:defRPr sz="1900"/>
            </a:pPr>
            <a:r>
              <a:t>Business questions guide useful analysis more effectively than looking at data without a purpose.</a:t>
            </a:r>
          </a:p>
          <a:p>
            <a:pPr>
              <a:spcAft>
                <a:spcPts val="1000"/>
              </a:spcAft>
              <a:defRPr sz="1900"/>
            </a:pPr>
            <a:r>
              <a:t>Dashboards help communicate patterns interactively.</a:t>
            </a:r>
          </a:p>
          <a:p>
            <a:pPr>
              <a:spcAft>
                <a:spcPts val="1000"/>
              </a:spcAft>
              <a:defRPr sz="1900"/>
            </a:pPr>
            <a:r>
              <a:t>Statistical testing adds evidence to descriptive observations.</a:t>
            </a:r>
          </a:p>
          <a:p>
            <a:pPr>
              <a:spcAft>
                <a:spcPts val="1000"/>
              </a:spcAft>
              <a:defRPr sz="1900"/>
            </a:pPr>
            <a:r>
              <a:t>A strong analytics workflow connects preparation, analysis, validation and communication.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3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11. Final Portfolio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Master GitHub repository: [ADD MASTER GITHUB LINK]</a:t>
            </a:r>
          </a:p>
          <a:p>
            <a:pPr>
              <a:spcAft>
                <a:spcPts val="1000"/>
              </a:spcAft>
              <a:defRPr sz="1800"/>
            </a:pPr>
            <a:r>
              <a:t>Task 1 repository: [ADD LINK]</a:t>
            </a:r>
          </a:p>
          <a:p>
            <a:pPr>
              <a:spcAft>
                <a:spcPts val="1000"/>
              </a:spcAft>
              <a:defRPr sz="1800"/>
            </a:pPr>
            <a:r>
              <a:t>Task 2 repository: [ADD LINK]</a:t>
            </a:r>
          </a:p>
          <a:p>
            <a:pPr>
              <a:spcAft>
                <a:spcPts val="1000"/>
              </a:spcAft>
              <a:defRPr sz="1800"/>
            </a:pPr>
            <a:r>
              <a:t>Task 3 repository / dashboard: [ADD LINK]</a:t>
            </a:r>
          </a:p>
          <a:p>
            <a:pPr>
              <a:spcAft>
                <a:spcPts val="1000"/>
              </a:spcAft>
              <a:defRPr sz="1800"/>
            </a:pPr>
            <a:r>
              <a:t>Task 4 repository: [ADD LINK]</a:t>
            </a:r>
          </a:p>
          <a:p>
            <a:pPr>
              <a:spcAft>
                <a:spcPts val="1000"/>
              </a:spcAft>
              <a:defRPr sz="1800"/>
            </a:pPr>
            <a:r>
              <a:t>LinkedIn portfolio walkthrough: [ADD LINK AFTER POSTING]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3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